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2310" y="9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31169-6BAD-90D5-5F1F-6E51B613323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46C6521-8400-48DD-683E-8A80DDC816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72C8864-FFC9-1199-B221-F81729BF94B2}"/>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12C89888-5CCE-840B-64A8-95061F3290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9AB7A3-AE07-4116-6692-8A36B48F22ED}"/>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2497618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26A2CE-79BB-78CF-EBFE-6725BC1F689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BF7D22-183E-1153-131A-CBCAEF5B0BD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7CFB7CE-7A15-8B92-4526-43672DA80487}"/>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6B84401E-04E2-2EC9-5008-95A98E9682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410F9F-D6ED-6300-271F-72C6B39210A3}"/>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95318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2EA5AC-2A3C-DA17-D00C-05895AD0C81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D2B0AC-74CA-AA91-2C2D-F74ED3C315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058C66-3B7D-EFD7-BFC5-9517E8D31A46}"/>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F1201B7B-7865-85E4-2A60-253A819A23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8E707F-0146-43E4-52F4-683C04749ED6}"/>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580575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4FA640-20F5-FE28-FBB1-2CE192FAE65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5D0E13-2035-3511-32B4-7F976335BC3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20B9A11-D3D4-F878-FB6A-E08F26E950E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8A95248-21B5-9F30-A10C-1B3135090D37}"/>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6" name="フッター プレースホルダー 5">
            <a:extLst>
              <a:ext uri="{FF2B5EF4-FFF2-40B4-BE49-F238E27FC236}">
                <a16:creationId xmlns:a16="http://schemas.microsoft.com/office/drawing/2014/main" id="{BCECC2EA-9DDB-D278-A3D2-03ADA58968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C02264-0C01-622B-0604-C522B7011A24}"/>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663150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B5361-A571-0616-1239-86CD3BF3DDF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8B6289-B2BD-824D-0A90-142A10BD70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75DFAD3-FBF4-966F-D8AA-EF759A204CE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A065362-F031-9193-473B-1BB17A87B0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622A3A9-E447-8CF6-EDED-EF5070FD4F7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12FE38-2406-F328-3453-9C5F4DED9434}"/>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8" name="フッター プレースホルダー 7">
            <a:extLst>
              <a:ext uri="{FF2B5EF4-FFF2-40B4-BE49-F238E27FC236}">
                <a16:creationId xmlns:a16="http://schemas.microsoft.com/office/drawing/2014/main" id="{55903C1C-6AF6-CC3F-6773-27145F8E4B5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34F97E4-A59E-0467-6E60-045748AFDDC7}"/>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994039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4FF646-17A1-DB15-11D2-EB3EE7B605E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5DA0C70-4057-AD5C-AA2B-EF8D1C6CFF3E}"/>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4" name="フッター プレースホルダー 3">
            <a:extLst>
              <a:ext uri="{FF2B5EF4-FFF2-40B4-BE49-F238E27FC236}">
                <a16:creationId xmlns:a16="http://schemas.microsoft.com/office/drawing/2014/main" id="{C1D0E838-E5CD-9DF5-1E81-BFD02BEFE75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D085B6B-8AAF-78A4-A661-4ED572F6756B}"/>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3718253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5651876-FDFA-5B89-4EC4-766A662A99B9}"/>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3" name="フッター プレースホルダー 2">
            <a:extLst>
              <a:ext uri="{FF2B5EF4-FFF2-40B4-BE49-F238E27FC236}">
                <a16:creationId xmlns:a16="http://schemas.microsoft.com/office/drawing/2014/main" id="{C18B2A13-1C9D-0FB0-D5AD-28B5486FAD4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18F75C-02EC-8403-BB54-9F6D13B30744}"/>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034443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3A6785-057A-2517-AC14-D24E708DD01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D4A45A4-77FB-05AE-EA8D-E538319577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A1C3ACC-CD1D-5AA2-8334-77164D264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7DC3323-2D8C-8EF2-B52F-6C3C89B9F485}"/>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6" name="フッター プレースホルダー 5">
            <a:extLst>
              <a:ext uri="{FF2B5EF4-FFF2-40B4-BE49-F238E27FC236}">
                <a16:creationId xmlns:a16="http://schemas.microsoft.com/office/drawing/2014/main" id="{6864C89A-9D95-9B07-DFED-15F07830A6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BDD800A-21C0-A554-9E7F-D41D8C2575DC}"/>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063937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98D6BD-FE13-90D5-ED96-CC3DE155A12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2ADF7E5-8DBF-46BB-4640-39E8EDA0B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3D9B2EA-69EA-5828-29C7-13CE0B8250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7AF5AEE-E14D-5DE0-0D5D-336BB3F0EBB5}"/>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6" name="フッター プレースホルダー 5">
            <a:extLst>
              <a:ext uri="{FF2B5EF4-FFF2-40B4-BE49-F238E27FC236}">
                <a16:creationId xmlns:a16="http://schemas.microsoft.com/office/drawing/2014/main" id="{37BACB3B-7002-93E9-6C50-B5150731140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04D274-CC18-9728-8A8C-D03EDADF4161}"/>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613339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E2EAF7-ECF7-5093-AE99-F3D2D4591D0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6435283-ADDF-71E2-D0EC-8B01B5350A9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C3D1D4-AFE2-92AE-1856-C6A9F4FDC839}"/>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B4C6ADF5-4560-9C74-DD9F-688A9CA170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DC2DB3-5760-B26F-5ADC-46A16C2606D8}"/>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722455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8BD664E-DD3A-7B79-7809-780C55CFFCE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9B97D2E-46F8-F33E-F3C9-541C9C4A5E7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6CB9E5-5D0C-11F8-2868-6475D641FBEF}"/>
              </a:ext>
            </a:extLst>
          </p:cNvPr>
          <p:cNvSpPr>
            <a:spLocks noGrp="1"/>
          </p:cNvSpPr>
          <p:nvPr>
            <p:ph type="dt" sz="half" idx="10"/>
          </p:nvPr>
        </p:nvSpPr>
        <p:spPr/>
        <p:txBody>
          <a:body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33FB8D6F-43FF-BE9B-DA48-07B1B4F637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B3B2645-4CA7-0DE0-2C4F-D6B12EA8D8EA}"/>
              </a:ext>
            </a:extLst>
          </p:cNvPr>
          <p:cNvSpPr>
            <a:spLocks noGrp="1"/>
          </p:cNvSpPr>
          <p:nvPr>
            <p:ph type="sldNum" sz="quarter" idx="12"/>
          </p:nvPr>
        </p:nvSpPr>
        <p:spPr/>
        <p:txBody>
          <a:body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302603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279FDCE-C151-EE36-32DB-398D2714F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0ABA30-C83E-FBF0-C2F6-8B250E4E0F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85D621-0AC2-4195-D60A-8BB1622056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CBFF43-3DE7-4A7A-810C-1C740B1EB6D2}" type="datetimeFigureOut">
              <a:rPr kumimoji="1" lang="ja-JP" altLang="en-US" smtClean="0"/>
              <a:t>2026/8/22</a:t>
            </a:fld>
            <a:endParaRPr kumimoji="1" lang="ja-JP" altLang="en-US"/>
          </a:p>
        </p:txBody>
      </p:sp>
      <p:sp>
        <p:nvSpPr>
          <p:cNvPr id="5" name="フッター プレースホルダー 4">
            <a:extLst>
              <a:ext uri="{FF2B5EF4-FFF2-40B4-BE49-F238E27FC236}">
                <a16:creationId xmlns:a16="http://schemas.microsoft.com/office/drawing/2014/main" id="{DDC07029-293D-9FEF-E3AC-C003809F3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FCFCEE-4B7D-2E7E-92F0-B924FD98D5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8FFF3E-401E-4319-840B-4E8A5ECDFD95}" type="slidenum">
              <a:rPr kumimoji="1" lang="ja-JP" altLang="en-US" smtClean="0"/>
              <a:t>‹#›</a:t>
            </a:fld>
            <a:endParaRPr kumimoji="1" lang="ja-JP" altLang="en-US"/>
          </a:p>
        </p:txBody>
      </p:sp>
    </p:spTree>
    <p:extLst>
      <p:ext uri="{BB962C8B-B14F-4D97-AF65-F5344CB8AC3E}">
        <p14:creationId xmlns:p14="http://schemas.microsoft.com/office/powerpoint/2010/main" val="1230264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A2B1E4D-733D-76EE-2888-F9551E5154D8}"/>
              </a:ext>
            </a:extLst>
          </p:cNvPr>
          <p:cNvSpPr txBox="1"/>
          <p:nvPr/>
        </p:nvSpPr>
        <p:spPr>
          <a:xfrm>
            <a:off x="83102" y="273205"/>
            <a:ext cx="1915909"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このページについて</a:t>
            </a:r>
          </a:p>
        </p:txBody>
      </p:sp>
      <p:sp>
        <p:nvSpPr>
          <p:cNvPr id="6" name="テキスト ボックス 5">
            <a:extLst>
              <a:ext uri="{FF2B5EF4-FFF2-40B4-BE49-F238E27FC236}">
                <a16:creationId xmlns:a16="http://schemas.microsoft.com/office/drawing/2014/main" id="{27CA98A5-53A1-CBBC-6BF1-0F63200E210D}"/>
              </a:ext>
            </a:extLst>
          </p:cNvPr>
          <p:cNvSpPr txBox="1"/>
          <p:nvPr/>
        </p:nvSpPr>
        <p:spPr>
          <a:xfrm>
            <a:off x="83102" y="744210"/>
            <a:ext cx="13032286" cy="4247317"/>
          </a:xfrm>
          <a:prstGeom prst="rect">
            <a:avLst/>
          </a:prstGeom>
          <a:noFill/>
        </p:spPr>
        <p:txBody>
          <a:bodyPr wrap="none" rtlCol="0">
            <a:spAutoFit/>
          </a:bodyPr>
          <a:lstStyle/>
          <a:p>
            <a:r>
              <a:rPr lang="ja-JP" altLang="en-US" dirty="0">
                <a:latin typeface="Meiryo UI" panose="020B0604030504040204" pitchFamily="50" charset="-128"/>
                <a:ea typeface="Meiryo UI" panose="020B0604030504040204" pitchFamily="50" charset="-128"/>
              </a:rPr>
              <a:t>このページは</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を初めて勉強する方が学習するためのサイトです。</a:t>
            </a:r>
            <a:endParaRPr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私は</a:t>
            </a:r>
            <a:r>
              <a:rPr kumimoji="1" lang="en-US" altLang="ja-JP" dirty="0">
                <a:latin typeface="Meiryo UI" panose="020B0604030504040204" pitchFamily="50" charset="-128"/>
                <a:ea typeface="Meiryo UI" panose="020B0604030504040204" pitchFamily="50" charset="-128"/>
              </a:rPr>
              <a:t>30</a:t>
            </a:r>
            <a:r>
              <a:rPr kumimoji="1" lang="ja-JP" altLang="en-US" dirty="0">
                <a:latin typeface="Meiryo UI" panose="020B0604030504040204" pitchFamily="50" charset="-128"/>
                <a:ea typeface="Meiryo UI" panose="020B0604030504040204" pitchFamily="50" charset="-128"/>
              </a:rPr>
              <a:t>代半ばになってから、生産技術として働くことになり、</a:t>
            </a:r>
            <a:r>
              <a:rPr kumimoji="1" lang="en-US" altLang="ja-JP" dirty="0">
                <a:latin typeface="Meiryo UI" panose="020B0604030504040204" pitchFamily="50" charset="-128"/>
                <a:ea typeface="Meiryo UI" panose="020B0604030504040204" pitchFamily="50" charset="-128"/>
              </a:rPr>
              <a:t>PLC</a:t>
            </a:r>
            <a:r>
              <a:rPr kumimoji="1" lang="ja-JP" altLang="en-US" dirty="0">
                <a:latin typeface="Meiryo UI" panose="020B0604030504040204" pitchFamily="50" charset="-128"/>
                <a:ea typeface="Meiryo UI" panose="020B0604030504040204" pitchFamily="50" charset="-128"/>
              </a:rPr>
              <a:t>の勉強を開始しました。</a:t>
            </a:r>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しかし、プログラミング言語やネットワークの知識と異なり、</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については学習できるサイトや書籍などはほとんどないため、</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学習に非常に苦労しました。 </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購入した</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の書籍はどれも</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時間程度で読み終わる内容の薄いものばかりでした。。お金ももったいないですね</a:t>
            </a:r>
            <a:r>
              <a:rPr lang="en-US" altLang="ja-JP" dirty="0">
                <a:latin typeface="Meiryo UI" panose="020B0604030504040204" pitchFamily="50" charset="-128"/>
                <a:ea typeface="Meiryo UI" panose="020B0604030504040204" pitchFamily="50" charset="-128"/>
              </a:rPr>
              <a:t>)</a:t>
            </a:r>
          </a:p>
          <a:p>
            <a:endParaRPr lang="en-US" altLang="ja-JP" i="1"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そんな中で、これから</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を触り始める方や</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とはどのような機器かを理解したい方を対象に</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の学習用サイトを作成しました。</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このサイトではブラウザ上での</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のプログラム、タッチパネルの作成して、</a:t>
            </a:r>
            <a:r>
              <a:rPr lang="en-US" altLang="ja-JP" dirty="0">
                <a:latin typeface="Meiryo UI" panose="020B0604030504040204" pitchFamily="50" charset="-128"/>
                <a:ea typeface="Meiryo UI" panose="020B0604030504040204" pitchFamily="50" charset="-128"/>
              </a:rPr>
              <a:t>3D</a:t>
            </a:r>
            <a:r>
              <a:rPr lang="ja-JP" altLang="en-US" dirty="0">
                <a:latin typeface="Meiryo UI" panose="020B0604030504040204" pitchFamily="50" charset="-128"/>
                <a:ea typeface="Meiryo UI" panose="020B0604030504040204" pitchFamily="50" charset="-128"/>
              </a:rPr>
              <a:t>モデルを動かすことで、</a:t>
            </a:r>
            <a:endParaRPr lang="en-US" altLang="ja-JP" dirty="0">
              <a:latin typeface="Meiryo UI" panose="020B0604030504040204" pitchFamily="50" charset="-128"/>
              <a:ea typeface="Meiryo UI" panose="020B0604030504040204" pitchFamily="50" charset="-128"/>
            </a:endParaRPr>
          </a:p>
          <a:p>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をより楽しく、深く理解することを目的としています。</a:t>
            </a:r>
            <a:endParaRPr lang="en-US" altLang="ja-JP" dirty="0">
              <a:latin typeface="Meiryo UI" panose="020B0604030504040204" pitchFamily="50" charset="-128"/>
              <a:ea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何か新しいことを始めるのはとてもしんどいものです。何を始めるにしても第一歩が一番重いです。</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その第一歩目を私と一緒に乗り越えましょう！</a:t>
            </a:r>
            <a:endParaRPr lang="en-US" altLang="ja-JP" dirty="0">
              <a:latin typeface="Meiryo UI" panose="020B0604030504040204" pitchFamily="50" charset="-128"/>
              <a:ea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このサイトの内容を一通り学習し終えたら、</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の基礎は身についています！あとはそれぞれの職場でどんどん成長していけるでしょう！</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一緒に頑張りましょう！</a:t>
            </a:r>
            <a:endParaRPr lang="en-US" altLang="ja-JP" dirty="0">
              <a:latin typeface="Meiryo UI" panose="020B0604030504040204" pitchFamily="50" charset="-128"/>
              <a:ea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12774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A65BD5E-9CDD-DDC5-626E-E84B62BD8D95}"/>
              </a:ext>
            </a:extLst>
          </p:cNvPr>
          <p:cNvSpPr txBox="1"/>
          <p:nvPr/>
        </p:nvSpPr>
        <p:spPr>
          <a:xfrm>
            <a:off x="83102" y="273205"/>
            <a:ext cx="144937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PLC</a:t>
            </a:r>
            <a:r>
              <a:rPr kumimoji="1" lang="ja-JP" altLang="en-US" b="1" dirty="0">
                <a:latin typeface="Meiryo UI" panose="020B0604030504040204" pitchFamily="50" charset="-128"/>
                <a:ea typeface="Meiryo UI" panose="020B0604030504040204" pitchFamily="50" charset="-128"/>
              </a:rPr>
              <a:t>について</a:t>
            </a:r>
          </a:p>
        </p:txBody>
      </p:sp>
      <p:sp>
        <p:nvSpPr>
          <p:cNvPr id="7" name="テキスト ボックス 6">
            <a:extLst>
              <a:ext uri="{FF2B5EF4-FFF2-40B4-BE49-F238E27FC236}">
                <a16:creationId xmlns:a16="http://schemas.microsoft.com/office/drawing/2014/main" id="{13BA6CB6-B3CC-77EE-9FF3-9FECA2698C34}"/>
              </a:ext>
            </a:extLst>
          </p:cNvPr>
          <p:cNvSpPr txBox="1"/>
          <p:nvPr/>
        </p:nvSpPr>
        <p:spPr>
          <a:xfrm>
            <a:off x="195697" y="938560"/>
            <a:ext cx="13470354" cy="4524315"/>
          </a:xfrm>
          <a:prstGeom prst="rect">
            <a:avLst/>
          </a:prstGeom>
          <a:noFill/>
        </p:spPr>
        <p:txBody>
          <a:bodyPr wrap="none" rtlCol="0">
            <a:spAutoFit/>
          </a:bodyPr>
          <a:lstStyle/>
          <a:p>
            <a:r>
              <a:rPr kumimoji="1" lang="ja-JP" altLang="en-US" dirty="0">
                <a:latin typeface="Meiryo UI" panose="020B0604030504040204" pitchFamily="50" charset="-128"/>
                <a:ea typeface="Meiryo UI" panose="020B0604030504040204" pitchFamily="50" charset="-128"/>
              </a:rPr>
              <a:t>このサイトでは実際にブラウザ上でラダープログラムを組むことができます。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お金もかからないので、どんどん遊んでもらっていいのですが、初めて</a:t>
            </a:r>
            <a:r>
              <a:rPr kumimoji="1" lang="en-US" altLang="ja-JP" dirty="0">
                <a:latin typeface="Meiryo UI" panose="020B0604030504040204" pitchFamily="50" charset="-128"/>
                <a:ea typeface="Meiryo UI" panose="020B0604030504040204" pitchFamily="50" charset="-128"/>
              </a:rPr>
              <a:t>PLC</a:t>
            </a:r>
            <a:r>
              <a:rPr kumimoji="1" lang="ja-JP" altLang="en-US" dirty="0">
                <a:latin typeface="Meiryo UI" panose="020B0604030504040204" pitchFamily="50" charset="-128"/>
                <a:ea typeface="Meiryo UI" panose="020B0604030504040204" pitchFamily="50" charset="-128"/>
              </a:rPr>
              <a:t>を始める方に向けて</a:t>
            </a:r>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について説明します。</a:t>
            </a:r>
            <a:endParaRPr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まず前提として</a:t>
            </a:r>
            <a:r>
              <a:rPr kumimoji="1" lang="en-US" altLang="ja-JP" dirty="0">
                <a:latin typeface="Meiryo UI" panose="020B0604030504040204" pitchFamily="50" charset="-128"/>
                <a:ea typeface="Meiryo UI" panose="020B0604030504040204" pitchFamily="50" charset="-128"/>
              </a:rPr>
              <a:t>PLC</a:t>
            </a:r>
            <a:r>
              <a:rPr kumimoji="1" lang="ja-JP" altLang="en-US" dirty="0">
                <a:latin typeface="Meiryo UI" panose="020B0604030504040204" pitchFamily="50" charset="-128"/>
                <a:ea typeface="Meiryo UI" panose="020B0604030504040204" pitchFamily="50" charset="-128"/>
              </a:rPr>
              <a:t>はとても単純なものです。</a:t>
            </a:r>
            <a:r>
              <a:rPr kumimoji="1" lang="en-US" altLang="ja-JP" dirty="0">
                <a:latin typeface="Meiryo UI" panose="020B0604030504040204" pitchFamily="50" charset="-128"/>
                <a:ea typeface="Meiryo UI" panose="020B0604030504040204" pitchFamily="50" charset="-128"/>
              </a:rPr>
              <a:t>PC</a:t>
            </a:r>
            <a:r>
              <a:rPr kumimoji="1" lang="ja-JP" altLang="en-US" dirty="0">
                <a:latin typeface="Meiryo UI" panose="020B0604030504040204" pitchFamily="50" charset="-128"/>
                <a:ea typeface="Meiryo UI" panose="020B0604030504040204" pitchFamily="50" charset="-128"/>
              </a:rPr>
              <a:t>を理解することよりもはるかに簡単です。</a:t>
            </a:r>
            <a:endParaRPr kumimoji="1" lang="en-US" altLang="ja-JP" dirty="0">
              <a:latin typeface="Meiryo UI" panose="020B0604030504040204" pitchFamily="50" charset="-128"/>
              <a:ea typeface="Meiryo UI" panose="020B0604030504040204" pitchFamily="50" charset="-128"/>
            </a:endParaRPr>
          </a:p>
          <a:p>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皆さんが使っている</a:t>
            </a:r>
            <a:r>
              <a:rPr lang="en-US" altLang="ja-JP" dirty="0">
                <a:latin typeface="Meiryo UI" panose="020B0604030504040204" pitchFamily="50" charset="-128"/>
                <a:ea typeface="Meiryo UI" panose="020B0604030504040204" pitchFamily="50" charset="-128"/>
              </a:rPr>
              <a:t>PC</a:t>
            </a:r>
            <a:r>
              <a:rPr lang="ja-JP" altLang="en-US" dirty="0">
                <a:latin typeface="Meiryo UI" panose="020B0604030504040204" pitchFamily="50" charset="-128"/>
                <a:ea typeface="Meiryo UI" panose="020B0604030504040204" pitchFamily="50" charset="-128"/>
              </a:rPr>
              <a:t>やスマートフォンではハードウェアの上に</a:t>
            </a:r>
            <a:r>
              <a:rPr lang="en-US" altLang="ja-JP" dirty="0">
                <a:latin typeface="Meiryo UI" panose="020B0604030504040204" pitchFamily="50" charset="-128"/>
                <a:ea typeface="Meiryo UI" panose="020B0604030504040204" pitchFamily="50" charset="-128"/>
              </a:rPr>
              <a:t>OS</a:t>
            </a:r>
            <a:r>
              <a:rPr lang="ja-JP" altLang="en-US" dirty="0">
                <a:latin typeface="Meiryo UI" panose="020B0604030504040204" pitchFamily="50" charset="-128"/>
                <a:ea typeface="Meiryo UI" panose="020B0604030504040204" pitchFamily="50" charset="-128"/>
              </a:rPr>
              <a:t>があり、</a:t>
            </a:r>
            <a:r>
              <a:rPr lang="en-US" altLang="ja-JP" dirty="0">
                <a:latin typeface="Meiryo UI" panose="020B0604030504040204" pitchFamily="50" charset="-128"/>
                <a:ea typeface="Meiryo UI" panose="020B0604030504040204" pitchFamily="50" charset="-128"/>
              </a:rPr>
              <a:t>OS</a:t>
            </a:r>
            <a:r>
              <a:rPr lang="ja-JP" altLang="en-US" dirty="0">
                <a:latin typeface="Meiryo UI" panose="020B0604030504040204" pitchFamily="50" charset="-128"/>
                <a:ea typeface="Meiryo UI" panose="020B0604030504040204" pitchFamily="50" charset="-128"/>
              </a:rPr>
              <a:t>がタスクを管理しながら様々なアプリケーションが並列で実行されています。</a:t>
            </a:r>
            <a:endParaRPr lang="en-US" altLang="ja-JP" dirty="0">
              <a:latin typeface="Meiryo UI" panose="020B0604030504040204" pitchFamily="50" charset="-128"/>
              <a:ea typeface="Meiryo UI" panose="020B0604030504040204" pitchFamily="50" charset="-128"/>
            </a:endParaRPr>
          </a:p>
          <a:p>
            <a:r>
              <a:rPr kumimoji="1" lang="en-US" altLang="ja-JP" dirty="0">
                <a:latin typeface="Meiryo UI" panose="020B0604030504040204" pitchFamily="50" charset="-128"/>
                <a:ea typeface="Meiryo UI" panose="020B0604030504040204" pitchFamily="50" charset="-128"/>
              </a:rPr>
              <a:t>PC</a:t>
            </a:r>
            <a:r>
              <a:rPr kumimoji="1" lang="ja-JP" altLang="en-US" dirty="0">
                <a:latin typeface="Meiryo UI" panose="020B0604030504040204" pitchFamily="50" charset="-128"/>
                <a:ea typeface="Meiryo UI" panose="020B0604030504040204" pitchFamily="50" charset="-128"/>
              </a:rPr>
              <a:t>を理解するには数々のソフトの使い方やプログラミング言語を勉強したりと何年もかかって勉強する必要があります。</a:t>
            </a:r>
            <a:endParaRPr kumimoji="1" lang="en-US" altLang="ja-JP" dirty="0">
              <a:latin typeface="Meiryo UI" panose="020B0604030504040204" pitchFamily="50" charset="-128"/>
              <a:ea typeface="Meiryo UI" panose="020B0604030504040204" pitchFamily="50" charset="-128"/>
            </a:endParaRPr>
          </a:p>
          <a:p>
            <a:r>
              <a:rPr kumimoji="1" lang="en-US" altLang="ja-JP" dirty="0">
                <a:latin typeface="Meiryo UI" panose="020B0604030504040204" pitchFamily="50" charset="-128"/>
                <a:ea typeface="Meiryo UI" panose="020B0604030504040204" pitchFamily="50" charset="-128"/>
              </a:rPr>
              <a:t>PLC</a:t>
            </a:r>
            <a:r>
              <a:rPr kumimoji="1" lang="ja-JP" altLang="en-US" dirty="0">
                <a:latin typeface="Meiryo UI" panose="020B0604030504040204" pitchFamily="50" charset="-128"/>
                <a:ea typeface="Meiryo UI" panose="020B0604030504040204" pitchFamily="50" charset="-128"/>
              </a:rPr>
              <a:t>は</a:t>
            </a:r>
            <a:r>
              <a:rPr kumimoji="1" lang="en-US" altLang="ja-JP" dirty="0">
                <a:latin typeface="Meiryo UI" panose="020B0604030504040204" pitchFamily="50" charset="-128"/>
                <a:ea typeface="Meiryo UI" panose="020B0604030504040204" pitchFamily="50" charset="-128"/>
              </a:rPr>
              <a:t>PC</a:t>
            </a:r>
            <a:r>
              <a:rPr kumimoji="1" lang="ja-JP" altLang="en-US" dirty="0">
                <a:latin typeface="Meiryo UI" panose="020B0604030504040204" pitchFamily="50" charset="-128"/>
                <a:ea typeface="Meiryo UI" panose="020B0604030504040204" pitchFamily="50" charset="-128"/>
              </a:rPr>
              <a:t>の</a:t>
            </a:r>
            <a:r>
              <a:rPr kumimoji="1" lang="en-US" altLang="ja-JP" dirty="0">
                <a:latin typeface="Meiryo UI" panose="020B0604030504040204" pitchFamily="50" charset="-128"/>
                <a:ea typeface="Meiryo UI" panose="020B0604030504040204" pitchFamily="50" charset="-128"/>
              </a:rPr>
              <a:t>100</a:t>
            </a:r>
            <a:r>
              <a:rPr lang="ja-JP" altLang="en-US" dirty="0">
                <a:latin typeface="Meiryo UI" panose="020B0604030504040204" pitchFamily="50" charset="-128"/>
                <a:ea typeface="Meiryo UI" panose="020B0604030504040204" pitchFamily="50" charset="-128"/>
              </a:rPr>
              <a:t>倍簡単だと思ってもらって大丈夫です。多分。</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en-US" altLang="ja-JP" dirty="0">
                <a:latin typeface="Meiryo UI" panose="020B0604030504040204" pitchFamily="50" charset="-128"/>
                <a:ea typeface="Meiryo UI" panose="020B0604030504040204" pitchFamily="50" charset="-128"/>
              </a:rPr>
              <a:t>PLC</a:t>
            </a:r>
            <a:r>
              <a:rPr kumimoji="1" lang="ja-JP" altLang="en-US" dirty="0">
                <a:latin typeface="Meiryo UI" panose="020B0604030504040204" pitchFamily="50" charset="-128"/>
                <a:ea typeface="Meiryo UI" panose="020B0604030504040204" pitchFamily="50" charset="-128"/>
              </a:rPr>
              <a:t>では基本的に一つのプログラムしか実行されていません。</a:t>
            </a:r>
            <a:endParaRPr kumimoji="1" lang="en-US" altLang="ja-JP" dirty="0">
              <a:latin typeface="Meiryo UI" panose="020B0604030504040204" pitchFamily="50" charset="-128"/>
              <a:ea typeface="Meiryo UI" panose="020B0604030504040204" pitchFamily="50" charset="-128"/>
            </a:endParaRPr>
          </a:p>
          <a:p>
            <a:r>
              <a:rPr lang="en-US" altLang="ja-JP" dirty="0">
                <a:latin typeface="Meiryo UI" panose="020B0604030504040204" pitchFamily="50" charset="-128"/>
                <a:ea typeface="Meiryo UI" panose="020B0604030504040204" pitchFamily="50" charset="-128"/>
              </a:rPr>
              <a:t>PLC</a:t>
            </a:r>
            <a:r>
              <a:rPr lang="ja-JP" altLang="en-US" dirty="0">
                <a:latin typeface="Meiryo UI" panose="020B0604030504040204" pitchFamily="50" charset="-128"/>
                <a:ea typeface="Meiryo UI" panose="020B0604030504040204" pitchFamily="50" charset="-128"/>
              </a:rPr>
              <a:t>の電源がついている間、そのプログラムが無限ループで永遠に実施されます。</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これから皆さんはラダー言語を使用してプログラムを組んでいきます。</a:t>
            </a:r>
            <a:endParaRPr lang="en-US" altLang="ja-JP" dirty="0">
              <a:latin typeface="Meiryo UI" panose="020B0604030504040204" pitchFamily="50" charset="-128"/>
              <a:ea typeface="Meiryo UI" panose="020B0604030504040204" pitchFamily="50" charset="-128"/>
            </a:endParaRPr>
          </a:p>
          <a:p>
            <a:r>
              <a:rPr kumimoji="1" lang="en-US" altLang="ja-JP" dirty="0">
                <a:latin typeface="Meiryo UI" panose="020B0604030504040204" pitchFamily="50" charset="-128"/>
                <a:ea typeface="Meiryo UI" panose="020B0604030504040204" pitchFamily="50" charset="-128"/>
              </a:rPr>
              <a:t>PC</a:t>
            </a:r>
            <a:r>
              <a:rPr kumimoji="1" lang="ja-JP" altLang="en-US" dirty="0">
                <a:latin typeface="Meiryo UI" panose="020B0604030504040204" pitchFamily="50" charset="-128"/>
                <a:ea typeface="Meiryo UI" panose="020B0604030504040204" pitchFamily="50" charset="-128"/>
              </a:rPr>
              <a:t>を触っていてラダー言語を触ることが無いのでなじみはないと思いますが、</a:t>
            </a:r>
            <a:r>
              <a:rPr lang="ja-JP" altLang="en-US" dirty="0">
                <a:latin typeface="Meiryo UI" panose="020B0604030504040204" pitchFamily="50" charset="-128"/>
                <a:ea typeface="Meiryo UI" panose="020B0604030504040204" pitchFamily="50" charset="-128"/>
              </a:rPr>
              <a:t>一般的なプログラミング言語より直感的に理解できます。</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ラダー言語の文法の説明はこのサイトの学習が進むにつれて理解できます。</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5824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2C9A4F8F-0F94-5398-FD6A-4A777239DE45}"/>
              </a:ext>
            </a:extLst>
          </p:cNvPr>
          <p:cNvSpPr txBox="1"/>
          <p:nvPr/>
        </p:nvSpPr>
        <p:spPr>
          <a:xfrm>
            <a:off x="83102" y="273205"/>
            <a:ext cx="144937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PLC</a:t>
            </a:r>
            <a:r>
              <a:rPr kumimoji="1" lang="ja-JP" altLang="en-US" b="1" dirty="0">
                <a:latin typeface="Meiryo UI" panose="020B0604030504040204" pitchFamily="50" charset="-128"/>
                <a:ea typeface="Meiryo UI" panose="020B0604030504040204" pitchFamily="50" charset="-128"/>
              </a:rPr>
              <a:t>について</a:t>
            </a:r>
          </a:p>
        </p:txBody>
      </p:sp>
      <p:sp>
        <p:nvSpPr>
          <p:cNvPr id="7" name="テキスト ボックス 6">
            <a:extLst>
              <a:ext uri="{FF2B5EF4-FFF2-40B4-BE49-F238E27FC236}">
                <a16:creationId xmlns:a16="http://schemas.microsoft.com/office/drawing/2014/main" id="{895F87D4-3F74-5056-D537-56C194157D75}"/>
              </a:ext>
            </a:extLst>
          </p:cNvPr>
          <p:cNvSpPr txBox="1"/>
          <p:nvPr/>
        </p:nvSpPr>
        <p:spPr>
          <a:xfrm>
            <a:off x="228600" y="751344"/>
            <a:ext cx="8953500" cy="5355312"/>
          </a:xfrm>
          <a:prstGeom prst="rect">
            <a:avLst/>
          </a:prstGeom>
          <a:noFill/>
        </p:spPr>
        <p:txBody>
          <a:bodyPr wrap="square">
            <a:spAutoFit/>
          </a:bodyPr>
          <a:lstStyle/>
          <a:p>
            <a:endParaRPr lang="en-US" altLang="ja-JP" sz="1800" dirty="0">
              <a:latin typeface="Meiryo UI" panose="020B0604030504040204" pitchFamily="50" charset="-128"/>
              <a:ea typeface="Meiryo UI" panose="020B0604030504040204" pitchFamily="50" charset="-128"/>
            </a:endParaRPr>
          </a:p>
          <a:p>
            <a:r>
              <a:rPr lang="ja-JP" altLang="en-US" sz="1800" dirty="0">
                <a:latin typeface="Meiryo UI" panose="020B0604030504040204" pitchFamily="50" charset="-128"/>
                <a:ea typeface="Meiryo UI" panose="020B0604030504040204" pitchFamily="50" charset="-128"/>
              </a:rPr>
              <a:t>プログラミング言語に触ったことのある方に説明するとラダー言語は</a:t>
            </a:r>
            <a:r>
              <a:rPr lang="en-US" altLang="ja-JP" sz="1800" dirty="0">
                <a:latin typeface="Meiryo UI" panose="020B0604030504040204" pitchFamily="50" charset="-128"/>
                <a:ea typeface="Meiryo UI" panose="020B0604030504040204" pitchFamily="50" charset="-128"/>
              </a:rPr>
              <a:t>IF</a:t>
            </a:r>
            <a:r>
              <a:rPr lang="ja-JP" altLang="en-US" sz="1800" dirty="0">
                <a:latin typeface="Meiryo UI" panose="020B0604030504040204" pitchFamily="50" charset="-128"/>
                <a:ea typeface="Meiryo UI" panose="020B0604030504040204" pitchFamily="50" charset="-128"/>
              </a:rPr>
              <a:t>文の塊です。</a:t>
            </a:r>
            <a:endParaRPr lang="en-US" altLang="ja-JP" sz="1800" dirty="0">
              <a:latin typeface="Meiryo UI" panose="020B0604030504040204" pitchFamily="50" charset="-128"/>
              <a:ea typeface="Meiryo UI" panose="020B0604030504040204" pitchFamily="50" charset="-128"/>
            </a:endParaRPr>
          </a:p>
          <a:p>
            <a:r>
              <a:rPr lang="ja-JP" altLang="en-US" sz="1800" dirty="0">
                <a:latin typeface="Meiryo UI" panose="020B0604030504040204" pitchFamily="50" charset="-128"/>
                <a:ea typeface="Meiryo UI" panose="020B0604030504040204" pitchFamily="50" charset="-128"/>
              </a:rPr>
              <a:t>先ほどは話したように</a:t>
            </a:r>
            <a:r>
              <a:rPr lang="en-US" altLang="ja-JP" sz="1800" dirty="0">
                <a:latin typeface="Meiryo UI" panose="020B0604030504040204" pitchFamily="50" charset="-128"/>
                <a:ea typeface="Meiryo UI" panose="020B0604030504040204" pitchFamily="50" charset="-128"/>
              </a:rPr>
              <a:t>PLC</a:t>
            </a:r>
            <a:r>
              <a:rPr lang="ja-JP" altLang="en-US" sz="1800" dirty="0">
                <a:latin typeface="Meiryo UI" panose="020B0604030504040204" pitchFamily="50" charset="-128"/>
                <a:ea typeface="Meiryo UI" panose="020B0604030504040204" pitchFamily="50" charset="-128"/>
              </a:rPr>
              <a:t>はこのラダー言語で書かれたプログラムを無限ループで実行しています。</a:t>
            </a:r>
            <a:endParaRPr lang="en-US" altLang="ja-JP" sz="1800" dirty="0">
              <a:latin typeface="Meiryo UI" panose="020B0604030504040204" pitchFamily="50" charset="-128"/>
              <a:ea typeface="Meiryo UI" panose="020B0604030504040204" pitchFamily="50" charset="-128"/>
            </a:endParaRPr>
          </a:p>
          <a:p>
            <a:r>
              <a:rPr lang="ja-JP" altLang="en-US" sz="1800" dirty="0">
                <a:latin typeface="Meiryo UI" panose="020B0604030504040204" pitchFamily="50" charset="-128"/>
                <a:ea typeface="Meiryo UI" panose="020B0604030504040204" pitchFamily="50" charset="-128"/>
              </a:rPr>
              <a:t>つまりプログラミング言語風に書くとこんな感じのプログラムをラダー言語で書いているだけです。</a:t>
            </a:r>
            <a:endParaRPr lang="en-US" altLang="ja-JP" sz="1800" dirty="0">
              <a:latin typeface="Meiryo UI" panose="020B0604030504040204" pitchFamily="50" charset="-128"/>
              <a:ea typeface="Meiryo UI" panose="020B0604030504040204" pitchFamily="50" charset="-128"/>
            </a:endParaRPr>
          </a:p>
          <a:p>
            <a:endParaRPr lang="en-US" altLang="ja-JP" sz="1800" dirty="0">
              <a:latin typeface="Meiryo UI" panose="020B0604030504040204" pitchFamily="50" charset="-128"/>
              <a:ea typeface="Meiryo UI" panose="020B0604030504040204" pitchFamily="50" charset="-128"/>
            </a:endParaRPr>
          </a:p>
          <a:p>
            <a:endParaRPr lang="en-US" altLang="ja-JP" sz="1800" dirty="0">
              <a:latin typeface="Meiryo UI" panose="020B0604030504040204" pitchFamily="50" charset="-128"/>
              <a:ea typeface="Meiryo UI" panose="020B0604030504040204" pitchFamily="50" charset="-128"/>
            </a:endParaRPr>
          </a:p>
          <a:p>
            <a:r>
              <a:rPr lang="en-US" altLang="ja-JP" sz="1800" dirty="0">
                <a:latin typeface="Meiryo UI" panose="020B0604030504040204" pitchFamily="50" charset="-128"/>
                <a:ea typeface="Meiryo UI" panose="020B0604030504040204" pitchFamily="50" charset="-128"/>
              </a:rPr>
              <a:t>While True:</a:t>
            </a:r>
          </a:p>
          <a:p>
            <a:r>
              <a:rPr lang="en-US" altLang="ja-JP" sz="1800" dirty="0">
                <a:latin typeface="Meiryo UI" panose="020B0604030504040204" pitchFamily="50" charset="-128"/>
                <a:ea typeface="Meiryo UI" panose="020B0604030504040204" pitchFamily="50" charset="-128"/>
              </a:rPr>
              <a:t>	IF ( X1==true and  X2 == true):</a:t>
            </a:r>
          </a:p>
          <a:p>
            <a:r>
              <a:rPr lang="en-US" altLang="ja-JP" sz="1800" dirty="0">
                <a:latin typeface="Meiryo UI" panose="020B0604030504040204" pitchFamily="50" charset="-128"/>
                <a:ea typeface="Meiryo UI" panose="020B0604030504040204" pitchFamily="50" charset="-128"/>
              </a:rPr>
              <a:t>		Y1 = true</a:t>
            </a:r>
          </a:p>
          <a:p>
            <a:r>
              <a:rPr lang="en-US" altLang="ja-JP" sz="1800" dirty="0">
                <a:latin typeface="Meiryo UI" panose="020B0604030504040204" pitchFamily="50" charset="-128"/>
                <a:ea typeface="Meiryo UI" panose="020B0604030504040204" pitchFamily="50" charset="-128"/>
              </a:rPr>
              <a:t>	else:</a:t>
            </a:r>
          </a:p>
          <a:p>
            <a:r>
              <a:rPr lang="en-US" altLang="ja-JP" sz="1800" dirty="0">
                <a:latin typeface="Meiryo UI" panose="020B0604030504040204" pitchFamily="50" charset="-128"/>
                <a:ea typeface="Meiryo UI" panose="020B0604030504040204" pitchFamily="50" charset="-128"/>
              </a:rPr>
              <a:t>		Y1 = false</a:t>
            </a:r>
          </a:p>
          <a:p>
            <a:endParaRPr lang="en-US" altLang="ja-JP" sz="1800" dirty="0">
              <a:latin typeface="Meiryo UI" panose="020B0604030504040204" pitchFamily="50" charset="-128"/>
              <a:ea typeface="Meiryo UI" panose="020B0604030504040204" pitchFamily="50" charset="-128"/>
            </a:endParaRPr>
          </a:p>
          <a:p>
            <a:r>
              <a:rPr lang="en-US" altLang="ja-JP" sz="1800" dirty="0">
                <a:latin typeface="Meiryo UI" panose="020B0604030504040204" pitchFamily="50" charset="-128"/>
                <a:ea typeface="Meiryo UI" panose="020B0604030504040204" pitchFamily="50" charset="-128"/>
              </a:rPr>
              <a:t>	IF (X3==true or X4==true)</a:t>
            </a:r>
          </a:p>
          <a:p>
            <a:r>
              <a:rPr lang="en-US" altLang="ja-JP" sz="1800" dirty="0">
                <a:latin typeface="Meiryo UI" panose="020B0604030504040204" pitchFamily="50" charset="-128"/>
                <a:ea typeface="Meiryo UI" panose="020B0604030504040204" pitchFamily="50" charset="-128"/>
              </a:rPr>
              <a:t>		Y2 = true</a:t>
            </a:r>
          </a:p>
          <a:p>
            <a:r>
              <a:rPr lang="en-US" altLang="ja-JP" sz="1800" dirty="0">
                <a:latin typeface="Meiryo UI" panose="020B0604030504040204" pitchFamily="50" charset="-128"/>
                <a:ea typeface="Meiryo UI" panose="020B0604030504040204" pitchFamily="50" charset="-128"/>
              </a:rPr>
              <a:t>	else:</a:t>
            </a:r>
          </a:p>
          <a:p>
            <a:r>
              <a:rPr lang="en-US" altLang="ja-JP" sz="1800" dirty="0">
                <a:latin typeface="Meiryo UI" panose="020B0604030504040204" pitchFamily="50" charset="-128"/>
                <a:ea typeface="Meiryo UI" panose="020B0604030504040204" pitchFamily="50" charset="-128"/>
              </a:rPr>
              <a:t>		Y2 = false</a:t>
            </a:r>
          </a:p>
          <a:p>
            <a:r>
              <a:rPr lang="en-US" altLang="ja-JP" sz="1800" dirty="0">
                <a:latin typeface="Meiryo UI" panose="020B0604030504040204" pitchFamily="50" charset="-128"/>
                <a:ea typeface="Meiryo UI" panose="020B0604030504040204" pitchFamily="50" charset="-128"/>
              </a:rPr>
              <a:t>…</a:t>
            </a:r>
          </a:p>
          <a:p>
            <a:endParaRPr kumimoji="1" lang="en-US" altLang="ja-JP" sz="1800" dirty="0">
              <a:latin typeface="Meiryo UI" panose="020B0604030504040204" pitchFamily="50" charset="-128"/>
              <a:ea typeface="Meiryo UI" panose="020B0604030504040204" pitchFamily="50" charset="-128"/>
            </a:endParaRPr>
          </a:p>
          <a:p>
            <a:r>
              <a:rPr kumimoji="1" lang="en-US" altLang="ja-JP" sz="1800" dirty="0">
                <a:latin typeface="Meiryo UI" panose="020B0604030504040204" pitchFamily="50" charset="-128"/>
                <a:ea typeface="Meiryo UI" panose="020B0604030504040204" pitchFamily="50" charset="-128"/>
              </a:rPr>
              <a:t>C</a:t>
            </a:r>
            <a:r>
              <a:rPr kumimoji="1" lang="ja-JP" altLang="en-US" sz="1800" dirty="0">
                <a:latin typeface="Meiryo UI" panose="020B0604030504040204" pitchFamily="50" charset="-128"/>
                <a:ea typeface="Meiryo UI" panose="020B0604030504040204" pitchFamily="50" charset="-128"/>
              </a:rPr>
              <a:t>言語や</a:t>
            </a:r>
            <a:r>
              <a:rPr lang="en-US" altLang="ja-JP" sz="1800" dirty="0">
                <a:latin typeface="Meiryo UI" panose="020B0604030504040204" pitchFamily="50" charset="-128"/>
                <a:ea typeface="Meiryo UI" panose="020B0604030504040204" pitchFamily="50" charset="-128"/>
              </a:rPr>
              <a:t>Python</a:t>
            </a:r>
            <a:r>
              <a:rPr lang="ja-JP" altLang="en-US" sz="1800" dirty="0">
                <a:latin typeface="Meiryo UI" panose="020B0604030504040204" pitchFamily="50" charset="-128"/>
                <a:ea typeface="Meiryo UI" panose="020B0604030504040204" pitchFamily="50" charset="-128"/>
              </a:rPr>
              <a:t>のようなプログラミング言語と比べるとはるかに単純です。</a:t>
            </a:r>
            <a:endParaRPr kumimoji="1" lang="ja-JP" altLang="en-US" sz="1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8683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0DF258B-4730-6A3F-A788-FFA1141C311E}"/>
              </a:ext>
            </a:extLst>
          </p:cNvPr>
          <p:cNvSpPr txBox="1"/>
          <p:nvPr/>
        </p:nvSpPr>
        <p:spPr>
          <a:xfrm>
            <a:off x="83102" y="273205"/>
            <a:ext cx="144937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PLC</a:t>
            </a:r>
            <a:r>
              <a:rPr kumimoji="1" lang="ja-JP" altLang="en-US" b="1" dirty="0">
                <a:latin typeface="Meiryo UI" panose="020B0604030504040204" pitchFamily="50" charset="-128"/>
                <a:ea typeface="Meiryo UI" panose="020B0604030504040204" pitchFamily="50" charset="-128"/>
              </a:rPr>
              <a:t>について</a:t>
            </a:r>
          </a:p>
        </p:txBody>
      </p:sp>
      <p:sp>
        <p:nvSpPr>
          <p:cNvPr id="7" name="テキスト ボックス 6">
            <a:extLst>
              <a:ext uri="{FF2B5EF4-FFF2-40B4-BE49-F238E27FC236}">
                <a16:creationId xmlns:a16="http://schemas.microsoft.com/office/drawing/2014/main" id="{4D7C3AD0-27D6-560C-8E33-8B7ED0C11508}"/>
              </a:ext>
            </a:extLst>
          </p:cNvPr>
          <p:cNvSpPr txBox="1"/>
          <p:nvPr/>
        </p:nvSpPr>
        <p:spPr>
          <a:xfrm>
            <a:off x="228600" y="751344"/>
            <a:ext cx="8953500" cy="1754326"/>
          </a:xfrm>
          <a:prstGeom prst="rect">
            <a:avLst/>
          </a:prstGeom>
          <a:noFill/>
        </p:spPr>
        <p:txBody>
          <a:bodyPr wrap="square">
            <a:spAutoFit/>
          </a:bodyPr>
          <a:lstStyle/>
          <a:p>
            <a:r>
              <a:rPr lang="en-US" altLang="ja-JP" sz="1800" dirty="0">
                <a:latin typeface="Meiryo UI" panose="020B0604030504040204" pitchFamily="50" charset="-128"/>
                <a:ea typeface="Meiryo UI" panose="020B0604030504040204" pitchFamily="50" charset="-128"/>
              </a:rPr>
              <a:t>PC</a:t>
            </a:r>
            <a:r>
              <a:rPr lang="ja-JP" altLang="en-US" sz="1800" dirty="0">
                <a:latin typeface="Meiryo UI" panose="020B0604030504040204" pitchFamily="50" charset="-128"/>
                <a:ea typeface="Meiryo UI" panose="020B0604030504040204" pitchFamily="50" charset="-128"/>
              </a:rPr>
              <a:t>との違いの最も大きいところは、</a:t>
            </a:r>
            <a:r>
              <a:rPr lang="en-US" altLang="ja-JP" sz="1800" dirty="0">
                <a:latin typeface="Meiryo UI" panose="020B0604030504040204" pitchFamily="50" charset="-128"/>
                <a:ea typeface="Meiryo UI" panose="020B0604030504040204" pitchFamily="50" charset="-128"/>
              </a:rPr>
              <a:t>PLC</a:t>
            </a:r>
            <a:r>
              <a:rPr lang="ja-JP" altLang="en-US" sz="1800" dirty="0">
                <a:latin typeface="Meiryo UI" panose="020B0604030504040204" pitchFamily="50" charset="-128"/>
                <a:ea typeface="Meiryo UI" panose="020B0604030504040204" pitchFamily="50" charset="-128"/>
              </a:rPr>
              <a:t>は現実の機械をうごかすところでしょう</a:t>
            </a:r>
            <a:endParaRPr lang="en-US" altLang="ja-JP" sz="1800" dirty="0">
              <a:latin typeface="Meiryo UI" panose="020B0604030504040204" pitchFamily="50" charset="-128"/>
              <a:ea typeface="Meiryo UI" panose="020B0604030504040204" pitchFamily="50" charset="-128"/>
            </a:endParaRPr>
          </a:p>
          <a:p>
            <a:endParaRPr lang="en-US" altLang="ja-JP" sz="1800"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先ほどの</a:t>
            </a:r>
            <a:r>
              <a:rPr lang="en-US" altLang="ja-JP" dirty="0">
                <a:latin typeface="Meiryo UI" panose="020B0604030504040204" pitchFamily="50" charset="-128"/>
                <a:ea typeface="Meiryo UI" panose="020B0604030504040204" pitchFamily="50" charset="-128"/>
              </a:rPr>
              <a:t>While</a:t>
            </a:r>
            <a:r>
              <a:rPr lang="ja-JP" altLang="en-US" dirty="0">
                <a:latin typeface="Meiryo UI" panose="020B0604030504040204" pitchFamily="50" charset="-128"/>
                <a:ea typeface="Meiryo UI" panose="020B0604030504040204" pitchFamily="50" charset="-128"/>
              </a:rPr>
              <a:t>ループ内の</a:t>
            </a:r>
            <a:r>
              <a:rPr lang="en-US" altLang="ja-JP" dirty="0">
                <a:latin typeface="Meiryo UI" panose="020B0604030504040204" pitchFamily="50" charset="-128"/>
                <a:ea typeface="Meiryo UI" panose="020B0604030504040204" pitchFamily="50" charset="-128"/>
              </a:rPr>
              <a:t>IF</a:t>
            </a:r>
            <a:r>
              <a:rPr lang="ja-JP" altLang="en-US" dirty="0">
                <a:latin typeface="Meiryo UI" panose="020B0604030504040204" pitchFamily="50" charset="-128"/>
                <a:ea typeface="Meiryo UI" panose="020B0604030504040204" pitchFamily="50" charset="-128"/>
              </a:rPr>
              <a:t>文の羅列で何をするかというと、現実世界の情報を受け取って、その情報に従って現実世界の機械を動かします。</a:t>
            </a:r>
            <a:endParaRPr lang="en-US" altLang="ja-JP" dirty="0">
              <a:latin typeface="Meiryo UI" panose="020B0604030504040204" pitchFamily="50" charset="-128"/>
              <a:ea typeface="Meiryo UI" panose="020B0604030504040204" pitchFamily="50" charset="-128"/>
            </a:endParaRPr>
          </a:p>
          <a:p>
            <a:endParaRPr kumimoji="1" lang="en-US" altLang="ja-JP" sz="1800" dirty="0">
              <a:latin typeface="Meiryo UI" panose="020B0604030504040204" pitchFamily="50" charset="-128"/>
              <a:ea typeface="Meiryo UI" panose="020B0604030504040204" pitchFamily="50" charset="-128"/>
            </a:endParaRPr>
          </a:p>
          <a:p>
            <a:endParaRPr kumimoji="1" lang="ja-JP" altLang="en-US" sz="1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71826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306D9F1E-B774-4BBB-3E1D-43206F086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49" y="1177205"/>
            <a:ext cx="4481606" cy="7439025"/>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グループ化 45">
            <a:extLst>
              <a:ext uri="{FF2B5EF4-FFF2-40B4-BE49-F238E27FC236}">
                <a16:creationId xmlns:a16="http://schemas.microsoft.com/office/drawing/2014/main" id="{836987CC-78DD-C59C-0E89-964CD9DE14DC}"/>
              </a:ext>
            </a:extLst>
          </p:cNvPr>
          <p:cNvGrpSpPr/>
          <p:nvPr/>
        </p:nvGrpSpPr>
        <p:grpSpPr>
          <a:xfrm>
            <a:off x="5122918" y="766616"/>
            <a:ext cx="6934827" cy="6858000"/>
            <a:chOff x="5122918" y="766616"/>
            <a:chExt cx="6934827" cy="6858000"/>
          </a:xfrm>
        </p:grpSpPr>
        <p:pic>
          <p:nvPicPr>
            <p:cNvPr id="7" name="図 6">
              <a:extLst>
                <a:ext uri="{FF2B5EF4-FFF2-40B4-BE49-F238E27FC236}">
                  <a16:creationId xmlns:a16="http://schemas.microsoft.com/office/drawing/2014/main" id="{AE657B48-418F-CE0A-E6A7-AF9CD06CE666}"/>
                </a:ext>
              </a:extLst>
            </p:cNvPr>
            <p:cNvPicPr>
              <a:picLocks noChangeAspect="1"/>
            </p:cNvPicPr>
            <p:nvPr/>
          </p:nvPicPr>
          <p:blipFill>
            <a:blip r:embed="rId3"/>
            <a:stretch>
              <a:fillRect/>
            </a:stretch>
          </p:blipFill>
          <p:spPr>
            <a:xfrm>
              <a:off x="5122918" y="766616"/>
              <a:ext cx="5716902" cy="6858000"/>
            </a:xfrm>
            <a:prstGeom prst="rect">
              <a:avLst/>
            </a:prstGeom>
          </p:spPr>
        </p:pic>
        <p:sp>
          <p:nvSpPr>
            <p:cNvPr id="8" name="正方形/長方形 7">
              <a:extLst>
                <a:ext uri="{FF2B5EF4-FFF2-40B4-BE49-F238E27FC236}">
                  <a16:creationId xmlns:a16="http://schemas.microsoft.com/office/drawing/2014/main" id="{77CF516A-E855-538F-0740-D7208C9DA540}"/>
                </a:ext>
              </a:extLst>
            </p:cNvPr>
            <p:cNvSpPr/>
            <p:nvPr/>
          </p:nvSpPr>
          <p:spPr>
            <a:xfrm>
              <a:off x="5770164" y="2141220"/>
              <a:ext cx="5040000" cy="1733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983C9EB-6B7E-9D1F-8ECE-96E962BB207F}"/>
                </a:ext>
              </a:extLst>
            </p:cNvPr>
            <p:cNvSpPr txBox="1"/>
            <p:nvPr/>
          </p:nvSpPr>
          <p:spPr>
            <a:xfrm>
              <a:off x="10783037" y="2252365"/>
              <a:ext cx="1274708" cy="461665"/>
            </a:xfrm>
            <a:prstGeom prst="rect">
              <a:avLst/>
            </a:prstGeom>
            <a:noFill/>
          </p:spPr>
          <p:txBody>
            <a:bodyPr wrap="none" rtlCol="0">
              <a:spAutoFit/>
            </a:bodyPr>
            <a:lstStyle/>
            <a:p>
              <a:r>
                <a:rPr kumimoji="1" lang="ja-JP" altLang="en-US" sz="1200" dirty="0">
                  <a:solidFill>
                    <a:srgbClr val="FF0000"/>
                  </a:solidFill>
                  <a:latin typeface="Meiryo UI" panose="020B0604030504040204" pitchFamily="50" charset="-128"/>
                  <a:ea typeface="Meiryo UI" panose="020B0604030504040204" pitchFamily="50" charset="-128"/>
                </a:rPr>
                <a:t>ワードデバイスは</a:t>
              </a:r>
              <a:endParaRPr kumimoji="1" lang="en-US" altLang="ja-JP" sz="1200" dirty="0">
                <a:solidFill>
                  <a:srgbClr val="FF0000"/>
                </a:solidFill>
                <a:latin typeface="Meiryo UI" panose="020B0604030504040204" pitchFamily="50" charset="-128"/>
                <a:ea typeface="Meiryo UI" panose="020B0604030504040204" pitchFamily="50" charset="-128"/>
              </a:endParaRPr>
            </a:p>
            <a:p>
              <a:r>
                <a:rPr kumimoji="1" lang="en-US" altLang="ja-JP" sz="1200" dirty="0">
                  <a:solidFill>
                    <a:srgbClr val="FF0000"/>
                  </a:solidFill>
                  <a:latin typeface="Meiryo UI" panose="020B0604030504040204" pitchFamily="50" charset="-128"/>
                  <a:ea typeface="Meiryo UI" panose="020B0604030504040204" pitchFamily="50" charset="-128"/>
                </a:rPr>
                <a:t>16bit</a:t>
              </a:r>
              <a:r>
                <a:rPr kumimoji="1" lang="ja-JP" altLang="en-US" sz="1200" dirty="0">
                  <a:solidFill>
                    <a:srgbClr val="FF0000"/>
                  </a:solidFill>
                  <a:latin typeface="Meiryo UI" panose="020B0604030504040204" pitchFamily="50" charset="-128"/>
                  <a:ea typeface="Meiryo UI" panose="020B0604030504040204" pitchFamily="50" charset="-128"/>
                </a:rPr>
                <a:t>まとめて扱う</a:t>
              </a:r>
            </a:p>
          </p:txBody>
        </p:sp>
        <p:sp>
          <p:nvSpPr>
            <p:cNvPr id="11" name="テキスト ボックス 10">
              <a:extLst>
                <a:ext uri="{FF2B5EF4-FFF2-40B4-BE49-F238E27FC236}">
                  <a16:creationId xmlns:a16="http://schemas.microsoft.com/office/drawing/2014/main" id="{4EBB55EF-23A7-95E9-5E21-CB12907F63AF}"/>
                </a:ext>
              </a:extLst>
            </p:cNvPr>
            <p:cNvSpPr txBox="1"/>
            <p:nvPr/>
          </p:nvSpPr>
          <p:spPr>
            <a:xfrm>
              <a:off x="9089125" y="1388799"/>
              <a:ext cx="1107996" cy="461665"/>
            </a:xfrm>
            <a:prstGeom prst="rect">
              <a:avLst/>
            </a:prstGeom>
            <a:solidFill>
              <a:schemeClr val="bg1"/>
            </a:solidFill>
          </p:spPr>
          <p:txBody>
            <a:bodyPr wrap="none" rtlCol="0">
              <a:spAutoFit/>
            </a:bodyPr>
            <a:lstStyle/>
            <a:p>
              <a:r>
                <a:rPr kumimoji="1" lang="ja-JP" altLang="en-US" sz="1200" dirty="0">
                  <a:solidFill>
                    <a:srgbClr val="FF0000"/>
                  </a:solidFill>
                  <a:latin typeface="Meiryo UI" panose="020B0604030504040204" pitchFamily="50" charset="-128"/>
                  <a:ea typeface="Meiryo UI" panose="020B0604030504040204" pitchFamily="50" charset="-128"/>
                </a:rPr>
                <a:t>ビットデバイスは</a:t>
              </a:r>
              <a:endParaRPr kumimoji="1" lang="en-US" altLang="ja-JP" sz="1200" dirty="0">
                <a:solidFill>
                  <a:srgbClr val="FF0000"/>
                </a:solidFill>
                <a:latin typeface="Meiryo UI" panose="020B0604030504040204" pitchFamily="50" charset="-128"/>
                <a:ea typeface="Meiryo UI" panose="020B0604030504040204" pitchFamily="50" charset="-128"/>
              </a:endParaRPr>
            </a:p>
            <a:p>
              <a:r>
                <a:rPr lang="en-US" altLang="ja-JP" sz="1200" dirty="0">
                  <a:solidFill>
                    <a:srgbClr val="FF0000"/>
                  </a:solidFill>
                  <a:latin typeface="Meiryo UI" panose="020B0604030504040204" pitchFamily="50" charset="-128"/>
                  <a:ea typeface="Meiryo UI" panose="020B0604030504040204" pitchFamily="50" charset="-128"/>
                </a:rPr>
                <a:t>1</a:t>
              </a:r>
              <a:r>
                <a:rPr kumimoji="1" lang="en-US" altLang="ja-JP" sz="1200" dirty="0">
                  <a:solidFill>
                    <a:srgbClr val="FF0000"/>
                  </a:solidFill>
                  <a:latin typeface="Meiryo UI" panose="020B0604030504040204" pitchFamily="50" charset="-128"/>
                  <a:ea typeface="Meiryo UI" panose="020B0604030504040204" pitchFamily="50" charset="-128"/>
                </a:rPr>
                <a:t>bit</a:t>
              </a:r>
              <a:r>
                <a:rPr kumimoji="1" lang="ja-JP" altLang="en-US" sz="1200" dirty="0">
                  <a:solidFill>
                    <a:srgbClr val="FF0000"/>
                  </a:solidFill>
                  <a:latin typeface="Meiryo UI" panose="020B0604030504040204" pitchFamily="50" charset="-128"/>
                  <a:ea typeface="Meiryo UI" panose="020B0604030504040204" pitchFamily="50" charset="-128"/>
                </a:rPr>
                <a:t>毎に扱う</a:t>
              </a:r>
            </a:p>
          </p:txBody>
        </p:sp>
        <p:sp>
          <p:nvSpPr>
            <p:cNvPr id="13" name="正方形/長方形 12">
              <a:extLst>
                <a:ext uri="{FF2B5EF4-FFF2-40B4-BE49-F238E27FC236}">
                  <a16:creationId xmlns:a16="http://schemas.microsoft.com/office/drawing/2014/main" id="{6B9DD824-0D72-DBDB-CD2F-3B3E1404970E}"/>
                </a:ext>
              </a:extLst>
            </p:cNvPr>
            <p:cNvSpPr/>
            <p:nvPr/>
          </p:nvSpPr>
          <p:spPr>
            <a:xfrm>
              <a:off x="5770164" y="2654187"/>
              <a:ext cx="5040000" cy="1733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544FED52-C896-D7D2-8DBE-3FC6915ABBA6}"/>
                </a:ext>
              </a:extLst>
            </p:cNvPr>
            <p:cNvSpPr/>
            <p:nvPr/>
          </p:nvSpPr>
          <p:spPr>
            <a:xfrm>
              <a:off x="5770164" y="2312209"/>
              <a:ext cx="5040000" cy="1733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2D9BB38-0BED-5BEB-6151-46E60B5EBF69}"/>
                </a:ext>
              </a:extLst>
            </p:cNvPr>
            <p:cNvSpPr/>
            <p:nvPr/>
          </p:nvSpPr>
          <p:spPr>
            <a:xfrm>
              <a:off x="5770164" y="2483198"/>
              <a:ext cx="5040000" cy="1733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D59936EA-6883-40C9-17D0-5B7EDC52EDAD}"/>
                </a:ext>
              </a:extLst>
            </p:cNvPr>
            <p:cNvSpPr/>
            <p:nvPr/>
          </p:nvSpPr>
          <p:spPr>
            <a:xfrm>
              <a:off x="6254353" y="1124248"/>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B6881EFD-0FEA-5D3A-25C7-FE47469D9051}"/>
                </a:ext>
              </a:extLst>
            </p:cNvPr>
            <p:cNvSpPr/>
            <p:nvPr/>
          </p:nvSpPr>
          <p:spPr>
            <a:xfrm>
              <a:off x="6432154" y="1124248"/>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AD15D433-27E6-1952-00B2-695A8308B41B}"/>
                </a:ext>
              </a:extLst>
            </p:cNvPr>
            <p:cNvSpPr/>
            <p:nvPr/>
          </p:nvSpPr>
          <p:spPr>
            <a:xfrm>
              <a:off x="6609955" y="1124248"/>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3C2FC042-4F3A-21F7-8090-27A156E62685}"/>
                </a:ext>
              </a:extLst>
            </p:cNvPr>
            <p:cNvSpPr/>
            <p:nvPr/>
          </p:nvSpPr>
          <p:spPr>
            <a:xfrm>
              <a:off x="6787756" y="1124248"/>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B818527F-B22A-3A28-2A19-26B33E827F12}"/>
                </a:ext>
              </a:extLst>
            </p:cNvPr>
            <p:cNvSpPr/>
            <p:nvPr/>
          </p:nvSpPr>
          <p:spPr>
            <a:xfrm>
              <a:off x="6254351" y="145763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2AA8AF1C-BD9F-69FA-6CC8-12DFC925E2ED}"/>
                </a:ext>
              </a:extLst>
            </p:cNvPr>
            <p:cNvSpPr/>
            <p:nvPr/>
          </p:nvSpPr>
          <p:spPr>
            <a:xfrm>
              <a:off x="6432152" y="145763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03F5C38C-2CD8-6153-3468-22DFDA0A26EC}"/>
                </a:ext>
              </a:extLst>
            </p:cNvPr>
            <p:cNvSpPr/>
            <p:nvPr/>
          </p:nvSpPr>
          <p:spPr>
            <a:xfrm>
              <a:off x="6609953" y="145763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38E5EBEC-3442-26A5-B179-BBDC4A77F68E}"/>
                </a:ext>
              </a:extLst>
            </p:cNvPr>
            <p:cNvSpPr/>
            <p:nvPr/>
          </p:nvSpPr>
          <p:spPr>
            <a:xfrm>
              <a:off x="6787754" y="145763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E0E3173A-D841-7AAD-4171-2D5DB528B544}"/>
                </a:ext>
              </a:extLst>
            </p:cNvPr>
            <p:cNvSpPr/>
            <p:nvPr/>
          </p:nvSpPr>
          <p:spPr>
            <a:xfrm>
              <a:off x="6254343" y="180054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378AED59-CFA2-98C3-947D-ACBAA25102E6}"/>
                </a:ext>
              </a:extLst>
            </p:cNvPr>
            <p:cNvSpPr/>
            <p:nvPr/>
          </p:nvSpPr>
          <p:spPr>
            <a:xfrm>
              <a:off x="6432144" y="180054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AB51AE17-6AD6-113C-C60F-ECD1AF42D4E1}"/>
                </a:ext>
              </a:extLst>
            </p:cNvPr>
            <p:cNvSpPr/>
            <p:nvPr/>
          </p:nvSpPr>
          <p:spPr>
            <a:xfrm>
              <a:off x="6609945" y="180054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38476AB3-2379-18CE-4B48-20DAB6D7A886}"/>
                </a:ext>
              </a:extLst>
            </p:cNvPr>
            <p:cNvSpPr/>
            <p:nvPr/>
          </p:nvSpPr>
          <p:spPr>
            <a:xfrm>
              <a:off x="6787746" y="1800542"/>
              <a:ext cx="162000" cy="1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47323557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1621</TotalTime>
  <Words>679</Words>
  <Application>Microsoft Office PowerPoint</Application>
  <PresentationFormat>ワイド画面</PresentationFormat>
  <Paragraphs>60</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直己 高橋</dc:creator>
  <cp:lastModifiedBy>直己 高橋</cp:lastModifiedBy>
  <cp:revision>5</cp:revision>
  <dcterms:created xsi:type="dcterms:W3CDTF">2026-08-18T11:58:14Z</dcterms:created>
  <dcterms:modified xsi:type="dcterms:W3CDTF">2026-08-23T13:46:24Z</dcterms:modified>
</cp:coreProperties>
</file>